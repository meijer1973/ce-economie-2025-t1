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bij de les over zorgverzekeringen. Vandaag analyseren we hoe de zorgverzekeringsmarkt werkt: van collectieve goederen tot het principaal-agentprobleem.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de leerdoelen door. Deze zes vaardigheden komen allemaal terug in de examenvragen. We behandelen ze in oplopende moeilijkheid.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 uit dat je bij collectieve goederen altijd twee criteria moet checken. Een zorgbehandeling voldoet aan geen van beide. Veel leerlingen vergeten het tweede criterium.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een klassiek voorbeeld van een marktfalen door asymmetrische informatie. Het examen vraagt of averechtse selectie KAN optreden. Het antwoord is nee, juist OMDAT de verzekering verplicht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de rekenroute stap voor stap door. Bij het wettelijk eigen risico zijn de maximale jaarkosten vast. Bij verhoogd eigen risico hangt het af van je werkelijke zorgkosten. Het omslagpunt ligt bij 649 euro.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rekenroute kun je bij elk vergelijkingsvraagstuk gebruiken. Het gaat altijd om: bereken kosten A, bereken kosten B, stel gelijk, los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een mooi voorbeeld van een causale keten. Het examen vraagt om uit te leggen DAT de kosten kunnen dalen. Je moet dus de hele keten opschrijven: geen drempel → eerder huisarts → vroege behandeling → minder specialistisch.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sleutel hier is dat doelmatigheid verbonden wordt aan surplus. Veel leerlingen vergeten die laatste stap: lagere premies → hoger CS → meer doelmatigheid.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principaal-agentprobleem heeft twee benen: belangentegenstelling EN informatieasymmetrie. Bij het examen moet je BEIDE noemen. De vergelijkingssite ontvangt een vaste vergoeding per verkocht product, wat de prikkel geeft om duurder te adviseren.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de drie meest voorkomende fouten door. Vooral de derde is cruciaal: het examen eist een volledige redenering, niet alleen het eindantwoord.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 samen en check: begrijpen leerlingen alle zes de punten? Laat ze zelf een voorbeeld bedenken van het principaal-agentprobleem in een andere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Shape 1"/>
          <p:cNvSpPr/>
          <p:nvPr/>
        </p:nvSpPr>
        <p:spPr>
          <a:xfrm>
            <a:off x="0" y="4709160"/>
            <a:ext cx="9144000" cy="434340"/>
          </a:xfrm>
          <a:prstGeom prst="rect">
            <a:avLst/>
          </a:prstGeom>
          <a:solidFill>
            <a:srgbClr val="151D4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97280"/>
            <a:ext cx="7863840" cy="182880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Zorgverzekering</a:t>
            </a:r>
            <a:endParaRPr lang="en-US" sz="4000" dirty="0"/>
          </a:p>
        </p:txBody>
      </p:sp>
      <p:sp>
        <p:nvSpPr>
          <p:cNvPr id="3" name="Text 1"/>
          <p:cNvSpPr/>
          <p:nvPr/>
        </p:nvSpPr>
        <p:spPr>
          <a:xfrm>
            <a:off x="640080" y="2926080"/>
            <a:ext cx="7863840" cy="457200"/>
          </a:xfrm>
          <a:prstGeom prst="rect">
            <a:avLst/>
          </a:prstGeom>
          <a:noFill/>
          <a:ln/>
        </p:spPr>
        <p:txBody>
          <a:bodyPr wrap="square" rtlCol="0" anchor="ctr"/>
          <a:lstStyle/>
          <a:p>
            <a:pPr indent="0" marL="0">
              <a:buNone/>
            </a:pPr>
            <a:r>
              <a:rPr lang="en-US" sz="2000" dirty="0">
                <a:solidFill>
                  <a:srgbClr val="718096"/>
                </a:solidFill>
                <a:latin typeface="Arial" pitchFamily="34" charset="0"/>
                <a:ea typeface="Arial" pitchFamily="34" charset="-122"/>
                <a:cs typeface="Arial" pitchFamily="34" charset="-120"/>
              </a:rPr>
              <a:t>CE Economie 2025 – Opgave 1</a:t>
            </a:r>
            <a:endParaRPr lang="en-US" sz="2000" dirty="0"/>
          </a:p>
        </p:txBody>
      </p:sp>
      <p:sp>
        <p:nvSpPr>
          <p:cNvPr id="4" name="Text 2"/>
          <p:cNvSpPr/>
          <p:nvPr/>
        </p:nvSpPr>
        <p:spPr>
          <a:xfrm>
            <a:off x="640080" y="4709160"/>
            <a:ext cx="7863840" cy="434340"/>
          </a:xfrm>
          <a:prstGeom prst="rect">
            <a:avLst/>
          </a:prstGeom>
          <a:noFill/>
          <a:ln/>
        </p:spPr>
        <p:txBody>
          <a:bodyPr wrap="square" rtlCol="0" anchor="ctr"/>
          <a:lstStyle/>
          <a:p>
            <a:pPr indent="0" marL="0">
              <a:buNone/>
            </a:pPr>
            <a:r>
              <a:rPr lang="en-US" sz="1200" dirty="0">
                <a:solidFill>
                  <a:srgbClr val="718096"/>
                </a:solidFill>
                <a:latin typeface="Arial" pitchFamily="34" charset="0"/>
                <a:ea typeface="Arial" pitchFamily="34" charset="-122"/>
                <a:cs typeface="Arial" pitchFamily="34" charset="-120"/>
              </a:rPr>
              <a:t>Centraal Examen VWO  |  Economie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moet je kunnen?</a:t>
            </a:r>
            <a:endParaRPr lang="en-US" sz="2400" dirty="0"/>
          </a:p>
        </p:txBody>
      </p:sp>
      <p:sp>
        <p:nvSpPr>
          <p:cNvPr id="3" name="Text 1"/>
          <p:cNvSpPr/>
          <p:nvPr/>
        </p:nvSpPr>
        <p:spPr>
          <a:xfrm>
            <a:off x="640080" y="1097280"/>
            <a:ext cx="7863840" cy="3200400"/>
          </a:xfrm>
          <a:prstGeom prst="rect">
            <a:avLst/>
          </a:prstGeom>
          <a:noFill/>
          <a:ln/>
        </p:spPr>
        <p:txBody>
          <a:bodyPr wrap="square" rtlCol="0" anchor="ctr"/>
          <a:lstStyle/>
          <a:p>
            <a:pPr marL="342900" indent="-342900">
              <a:spcAft>
                <a:spcPts val="800"/>
              </a:spcAft>
              <a:buSzPct val="100000"/>
              <a:buChar char="•"/>
            </a:pPr>
            <a:r>
              <a:rPr lang="en-US" sz="1600" dirty="0">
                <a:solidFill>
                  <a:srgbClr val="2D3748"/>
                </a:solidFill>
                <a:latin typeface="Arial" pitchFamily="34" charset="0"/>
                <a:ea typeface="Arial" pitchFamily="34" charset="-122"/>
                <a:cs typeface="Arial" pitchFamily="34" charset="-120"/>
              </a:rPr>
              <a:t>Collectieve goederen herkennen: rivaliteit en uitsluitbaarheid</a:t>
            </a:r>
            <a:endParaRPr lang="en-US" sz="1600" dirty="0"/>
          </a:p>
          <a:p>
            <a:pPr marL="342900" indent="-342900">
              <a:spcAft>
                <a:spcPts val="800"/>
              </a:spcAft>
              <a:buSzPct val="100000"/>
              <a:buChar char="•"/>
            </a:pPr>
            <a:r>
              <a:rPr lang="en-US" sz="1600" dirty="0">
                <a:solidFill>
                  <a:srgbClr val="2D3748"/>
                </a:solidFill>
                <a:latin typeface="Arial" pitchFamily="34" charset="0"/>
                <a:ea typeface="Arial" pitchFamily="34" charset="-122"/>
                <a:cs typeface="Arial" pitchFamily="34" charset="-120"/>
              </a:rPr>
              <a:t>Averechtse selectie analyseren op de verzekeringsmarkt</a:t>
            </a:r>
            <a:endParaRPr lang="en-US" sz="1600" dirty="0"/>
          </a:p>
          <a:p>
            <a:pPr marL="342900" indent="-342900">
              <a:spcAft>
                <a:spcPts val="800"/>
              </a:spcAft>
              <a:buSzPct val="100000"/>
              <a:buChar char="•"/>
            </a:pPr>
            <a:r>
              <a:rPr lang="en-US" sz="1600" dirty="0">
                <a:solidFill>
                  <a:srgbClr val="2D3748"/>
                </a:solidFill>
                <a:latin typeface="Arial" pitchFamily="34" charset="0"/>
                <a:ea typeface="Arial" pitchFamily="34" charset="-122"/>
                <a:cs typeface="Arial" pitchFamily="34" charset="-120"/>
              </a:rPr>
              <a:t>Break-even berekening: eigen risico vs. premie vergelijken</a:t>
            </a:r>
            <a:endParaRPr lang="en-US" sz="1600" dirty="0"/>
          </a:p>
          <a:p>
            <a:pPr marL="342900" indent="-342900">
              <a:spcAft>
                <a:spcPts val="800"/>
              </a:spcAft>
              <a:buSzPct val="100000"/>
              <a:buChar char="•"/>
            </a:pPr>
            <a:r>
              <a:rPr lang="en-US" sz="1600" dirty="0">
                <a:solidFill>
                  <a:srgbClr val="2D3748"/>
                </a:solidFill>
                <a:latin typeface="Arial" pitchFamily="34" charset="0"/>
                <a:ea typeface="Arial" pitchFamily="34" charset="-122"/>
                <a:cs typeface="Arial" pitchFamily="34" charset="-120"/>
              </a:rPr>
              <a:t>Preventie-effect uitleggen (causale redenering)</a:t>
            </a:r>
            <a:endParaRPr lang="en-US" sz="1600" dirty="0"/>
          </a:p>
          <a:p>
            <a:pPr marL="342900" indent="-342900">
              <a:spcAft>
                <a:spcPts val="800"/>
              </a:spcAft>
              <a:buSzPct val="100000"/>
              <a:buChar char="•"/>
            </a:pPr>
            <a:r>
              <a:rPr lang="en-US" sz="1600" dirty="0">
                <a:solidFill>
                  <a:srgbClr val="2D3748"/>
                </a:solidFill>
                <a:latin typeface="Arial" pitchFamily="34" charset="0"/>
                <a:ea typeface="Arial" pitchFamily="34" charset="-122"/>
                <a:cs typeface="Arial" pitchFamily="34" charset="-120"/>
              </a:rPr>
              <a:t>Doelmatigheid verbinden aan surplus en informatie</a:t>
            </a:r>
            <a:endParaRPr lang="en-US" sz="1600" dirty="0"/>
          </a:p>
          <a:p>
            <a:pPr marL="342900" indent="-342900">
              <a:spcAft>
                <a:spcPts val="800"/>
              </a:spcAft>
              <a:buSzPct val="100000"/>
              <a:buChar char="•"/>
            </a:pPr>
            <a:r>
              <a:rPr lang="en-US" sz="1600" dirty="0">
                <a:solidFill>
                  <a:srgbClr val="2D3748"/>
                </a:solidFill>
                <a:latin typeface="Arial" pitchFamily="34" charset="0"/>
                <a:ea typeface="Arial" pitchFamily="34" charset="-122"/>
                <a:cs typeface="Arial" pitchFamily="34" charset="-120"/>
              </a:rPr>
              <a:t>Principaal-agentprobleem herkennen en uitleggen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Is zorg een collectief goed?</a:t>
            </a:r>
            <a:endParaRPr lang="en-US" sz="2400" dirty="0"/>
          </a:p>
        </p:txBody>
      </p:sp>
      <p:sp>
        <p:nvSpPr>
          <p:cNvPr id="3" name="Shape 1"/>
          <p:cNvSpPr/>
          <p:nvPr/>
        </p:nvSpPr>
        <p:spPr>
          <a:xfrm>
            <a:off x="457200" y="1005840"/>
            <a:ext cx="3931920" cy="310896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108960"/>
          </a:xfrm>
          <a:prstGeom prst="rect">
            <a:avLst/>
          </a:prstGeom>
          <a:solidFill>
            <a:srgbClr val="1A5276"/>
          </a:solidFill>
          <a:ln/>
        </p:spPr>
      </p:sp>
      <p:sp>
        <p:nvSpPr>
          <p:cNvPr id="5" name="Text 3"/>
          <p:cNvSpPr/>
          <p:nvPr/>
        </p:nvSpPr>
        <p:spPr>
          <a:xfrm>
            <a:off x="685800" y="1143000"/>
            <a:ext cx="3566160" cy="411480"/>
          </a:xfrm>
          <a:prstGeom prst="rect">
            <a:avLst/>
          </a:prstGeom>
          <a:noFill/>
          <a:ln/>
        </p:spPr>
        <p:txBody>
          <a:bodyPr wrap="square" rtlCol="0" anchor="ctr"/>
          <a:lstStyle/>
          <a:p>
            <a:pPr indent="0" marL="0">
              <a:buNone/>
            </a:pPr>
            <a:r>
              <a:rPr lang="en-US" sz="2000" b="1" dirty="0">
                <a:solidFill>
                  <a:srgbClr val="1A5276"/>
                </a:solidFill>
                <a:latin typeface="Arial" pitchFamily="34" charset="0"/>
                <a:ea typeface="Arial" pitchFamily="34" charset="-122"/>
                <a:cs typeface="Arial" pitchFamily="34" charset="-120"/>
              </a:rPr>
              <a:t>Twee voorwaarden</a:t>
            </a:r>
            <a:endParaRPr lang="en-US" sz="2000" dirty="0"/>
          </a:p>
        </p:txBody>
      </p:sp>
      <p:sp>
        <p:nvSpPr>
          <p:cNvPr id="6" name="Text 4"/>
          <p:cNvSpPr/>
          <p:nvPr/>
        </p:nvSpPr>
        <p:spPr>
          <a:xfrm>
            <a:off x="685800" y="1600200"/>
            <a:ext cx="3566160" cy="2377440"/>
          </a:xfrm>
          <a:prstGeom prst="rect">
            <a:avLst/>
          </a:prstGeom>
          <a:noFill/>
          <a:ln/>
        </p:spPr>
        <p:txBody>
          <a:bodyPr wrap="square" rtlCol="0" anchor="ctr"/>
          <a:lstStyle/>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Niet-rivaliserend: gebruik door één persoon vermindert het niet voor een ander</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Niet-uitsluitbaar: je kunt niemand uitsluiten van het goed</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Pas als BEIDE gelden → collectief goed</a:t>
            </a:r>
            <a:endParaRPr lang="en-US" sz="1400" dirty="0"/>
          </a:p>
        </p:txBody>
      </p:sp>
      <p:sp>
        <p:nvSpPr>
          <p:cNvPr id="7" name="Shape 5"/>
          <p:cNvSpPr/>
          <p:nvPr/>
        </p:nvSpPr>
        <p:spPr>
          <a:xfrm>
            <a:off x="4754880" y="1005840"/>
            <a:ext cx="3931920" cy="310896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108960"/>
          </a:xfrm>
          <a:prstGeom prst="rect">
            <a:avLst/>
          </a:prstGeom>
          <a:solidFill>
            <a:srgbClr val="E67E22"/>
          </a:solidFill>
          <a:ln/>
        </p:spPr>
      </p:sp>
      <p:sp>
        <p:nvSpPr>
          <p:cNvPr id="9" name="Text 7"/>
          <p:cNvSpPr/>
          <p:nvPr/>
        </p:nvSpPr>
        <p:spPr>
          <a:xfrm>
            <a:off x="4983480" y="1143000"/>
            <a:ext cx="3566160" cy="411480"/>
          </a:xfrm>
          <a:prstGeom prst="rect">
            <a:avLst/>
          </a:prstGeom>
          <a:noFill/>
          <a:ln/>
        </p:spPr>
        <p:txBody>
          <a:bodyPr wrap="square" rtlCol="0" anchor="ctr"/>
          <a:lstStyle/>
          <a:p>
            <a:pPr indent="0" marL="0">
              <a:buNone/>
            </a:pPr>
            <a:r>
              <a:rPr lang="en-US" sz="2000" b="1" dirty="0">
                <a:solidFill>
                  <a:srgbClr val="E67E22"/>
                </a:solidFill>
                <a:latin typeface="Arial" pitchFamily="34" charset="0"/>
                <a:ea typeface="Arial" pitchFamily="34" charset="-122"/>
                <a:cs typeface="Arial" pitchFamily="34" charset="-120"/>
              </a:rPr>
              <a:t>Zorgbehandeling?</a:t>
            </a:r>
            <a:endParaRPr lang="en-US" sz="2000" dirty="0"/>
          </a:p>
        </p:txBody>
      </p:sp>
      <p:sp>
        <p:nvSpPr>
          <p:cNvPr id="10" name="Text 8"/>
          <p:cNvSpPr/>
          <p:nvPr/>
        </p:nvSpPr>
        <p:spPr>
          <a:xfrm>
            <a:off x="4983480" y="1600200"/>
            <a:ext cx="3566160" cy="2377440"/>
          </a:xfrm>
          <a:prstGeom prst="rect">
            <a:avLst/>
          </a:prstGeom>
          <a:noFill/>
          <a:ln/>
        </p:spPr>
        <p:txBody>
          <a:bodyPr wrap="square" rtlCol="0" anchor="ctr"/>
          <a:lstStyle/>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Rivaliserend: als jij de arts bezoekt, kan een ander dat niet tegelijk</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Uitsluitbaar: geen betaling → geen behandeling</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Conclusie: GEEN collectief goed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Averechtse selectie</a:t>
            </a:r>
            <a:endParaRPr lang="en-US" sz="2400" dirty="0"/>
          </a:p>
        </p:txBody>
      </p:sp>
      <p:sp>
        <p:nvSpPr>
          <p:cNvPr id="3" name="Shape 1"/>
          <p:cNvSpPr/>
          <p:nvPr/>
        </p:nvSpPr>
        <p:spPr>
          <a:xfrm>
            <a:off x="1371600" y="1188720"/>
            <a:ext cx="6400800" cy="502920"/>
          </a:xfrm>
          <a:prstGeom prst="rect">
            <a:avLst/>
          </a:prstGeom>
          <a:solidFill>
            <a:srgbClr val="1A5276"/>
          </a:solidFill>
          <a:ln/>
          <a:effectLst>
            <a:outerShdw sx="100000" sy="100000" kx="0" ky="0" algn="bl" rotWithShape="0" blurRad="76200" dist="25400" dir="8100000">
              <a:srgbClr val="000000">
                <a:alpha val="10000"/>
              </a:srgbClr>
            </a:outerShdw>
          </a:effectLst>
        </p:spPr>
      </p:sp>
      <p:sp>
        <p:nvSpPr>
          <p:cNvPr id="4" name="Text 2"/>
          <p:cNvSpPr/>
          <p:nvPr/>
        </p:nvSpPr>
        <p:spPr>
          <a:xfrm>
            <a:off x="1554480" y="1188720"/>
            <a:ext cx="603504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Informatieprobleem: verzekeraar kent risicoprofiel niet</a:t>
            </a:r>
            <a:endParaRPr lang="en-US" sz="1600" dirty="0"/>
          </a:p>
        </p:txBody>
      </p:sp>
      <p:sp>
        <p:nvSpPr>
          <p:cNvPr id="5" name="Shape 3"/>
          <p:cNvSpPr/>
          <p:nvPr/>
        </p:nvSpPr>
        <p:spPr>
          <a:xfrm>
            <a:off x="1371600" y="1801368"/>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6" name="Text 4"/>
          <p:cNvSpPr/>
          <p:nvPr/>
        </p:nvSpPr>
        <p:spPr>
          <a:xfrm>
            <a:off x="1554480" y="1801368"/>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Premie is gemiddeld: te hoog voor goede risico’s</a:t>
            </a:r>
            <a:endParaRPr lang="en-US" sz="1600" dirty="0"/>
          </a:p>
        </p:txBody>
      </p:sp>
      <p:sp>
        <p:nvSpPr>
          <p:cNvPr id="7" name="Shape 5"/>
          <p:cNvSpPr/>
          <p:nvPr/>
        </p:nvSpPr>
        <p:spPr>
          <a:xfrm>
            <a:off x="1371600" y="2414016"/>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8" name="Text 6"/>
          <p:cNvSpPr/>
          <p:nvPr/>
        </p:nvSpPr>
        <p:spPr>
          <a:xfrm>
            <a:off x="1554480" y="2414016"/>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Goede risico’s stappen uit de markt</a:t>
            </a:r>
            <a:endParaRPr lang="en-US" sz="1600" dirty="0"/>
          </a:p>
        </p:txBody>
      </p:sp>
      <p:sp>
        <p:nvSpPr>
          <p:cNvPr id="9" name="Shape 7"/>
          <p:cNvSpPr/>
          <p:nvPr/>
        </p:nvSpPr>
        <p:spPr>
          <a:xfrm>
            <a:off x="1371600" y="3026664"/>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10" name="Text 8"/>
          <p:cNvSpPr/>
          <p:nvPr/>
        </p:nvSpPr>
        <p:spPr>
          <a:xfrm>
            <a:off x="1554480" y="3026664"/>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Alleen slechte risico’s blijven over</a:t>
            </a:r>
            <a:endParaRPr lang="en-US" sz="1600" dirty="0"/>
          </a:p>
        </p:txBody>
      </p:sp>
      <p:sp>
        <p:nvSpPr>
          <p:cNvPr id="11" name="Shape 9"/>
          <p:cNvSpPr/>
          <p:nvPr/>
        </p:nvSpPr>
        <p:spPr>
          <a:xfrm>
            <a:off x="1371600" y="3639312"/>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12" name="Text 10"/>
          <p:cNvSpPr/>
          <p:nvPr/>
        </p:nvSpPr>
        <p:spPr>
          <a:xfrm>
            <a:off x="1554480" y="3639312"/>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Premie moet verder stijgen → spiraal</a:t>
            </a:r>
            <a:endParaRPr lang="en-US" sz="1600" dirty="0"/>
          </a:p>
        </p:txBody>
      </p:sp>
      <p:sp>
        <p:nvSpPr>
          <p:cNvPr id="13" name="Shape 11"/>
          <p:cNvSpPr/>
          <p:nvPr/>
        </p:nvSpPr>
        <p:spPr>
          <a:xfrm>
            <a:off x="1371600" y="4251960"/>
            <a:ext cx="6400800" cy="502920"/>
          </a:xfrm>
          <a:prstGeom prst="rect">
            <a:avLst/>
          </a:prstGeom>
          <a:solidFill>
            <a:srgbClr val="1A5276"/>
          </a:solidFill>
          <a:ln/>
          <a:effectLst>
            <a:outerShdw sx="100000" sy="100000" kx="0" ky="0" algn="bl" rotWithShape="0" blurRad="76200" dist="25400" dir="8100000">
              <a:srgbClr val="000000">
                <a:alpha val="10000"/>
              </a:srgbClr>
            </a:outerShdw>
          </a:effectLst>
        </p:spPr>
      </p:sp>
      <p:sp>
        <p:nvSpPr>
          <p:cNvPr id="14" name="Text 12"/>
          <p:cNvSpPr/>
          <p:nvPr/>
        </p:nvSpPr>
        <p:spPr>
          <a:xfrm>
            <a:off x="1554480" y="4251960"/>
            <a:ext cx="603504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  Oplossing: verplichte verzekering voorkomt dit!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Kosten vergelijken: eigen risico</a:t>
            </a:r>
            <a:endParaRPr lang="en-US" sz="2400" dirty="0"/>
          </a:p>
        </p:txBody>
      </p:sp>
      <p:sp>
        <p:nvSpPr>
          <p:cNvPr id="3" name="Shape 1"/>
          <p:cNvSpPr/>
          <p:nvPr/>
        </p:nvSpPr>
        <p:spPr>
          <a:xfrm>
            <a:off x="640080" y="1097280"/>
            <a:ext cx="7863840" cy="3474720"/>
          </a:xfrm>
          <a:prstGeom prst="rect">
            <a:avLst/>
          </a:prstGeom>
          <a:solidFill>
            <a:srgbClr val="F7F8FA"/>
          </a:solidFill>
          <a:ln w="6350">
            <a:solidFill>
              <a:srgbClr val="CBD5E0"/>
            </a:solidFill>
            <a:prstDash val="solid"/>
          </a:ln>
        </p:spPr>
      </p:sp>
      <p:sp>
        <p:nvSpPr>
          <p:cNvPr id="4" name="Shape 2"/>
          <p:cNvSpPr/>
          <p:nvPr/>
        </p:nvSpPr>
        <p:spPr>
          <a:xfrm>
            <a:off x="640080" y="1097280"/>
            <a:ext cx="54864" cy="3474720"/>
          </a:xfrm>
          <a:prstGeom prst="rect">
            <a:avLst/>
          </a:prstGeom>
          <a:solidFill>
            <a:srgbClr val="1A5276"/>
          </a:solidFill>
          <a:ln/>
        </p:spPr>
      </p:sp>
      <p:sp>
        <p:nvSpPr>
          <p:cNvPr id="5" name="Text 3"/>
          <p:cNvSpPr/>
          <p:nvPr/>
        </p:nvSpPr>
        <p:spPr>
          <a:xfrm>
            <a:off x="914400" y="1234440"/>
            <a:ext cx="7315200" cy="45720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Wettelijk:   12 × €108,25 + €385 = €1.684 per jaar</a:t>
            </a:r>
            <a:endParaRPr lang="en-US" sz="1600" dirty="0"/>
          </a:p>
        </p:txBody>
      </p:sp>
      <p:sp>
        <p:nvSpPr>
          <p:cNvPr id="6" name="Text 4"/>
          <p:cNvSpPr/>
          <p:nvPr/>
        </p:nvSpPr>
        <p:spPr>
          <a:xfrm>
            <a:off x="914400" y="1691640"/>
            <a:ext cx="7315200" cy="45720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Verhoogd:    12 × € 86,25 + zorgkosten = €1.035 + zorgkosten</a:t>
            </a:r>
            <a:endParaRPr lang="en-US" sz="1600" dirty="0"/>
          </a:p>
        </p:txBody>
      </p:sp>
      <p:sp>
        <p:nvSpPr>
          <p:cNvPr id="7" name="Text 5"/>
          <p:cNvSpPr/>
          <p:nvPr/>
        </p:nvSpPr>
        <p:spPr>
          <a:xfrm>
            <a:off x="914400" y="2148840"/>
            <a:ext cx="7315200" cy="457200"/>
          </a:xfrm>
          <a:prstGeom prst="rect">
            <a:avLst/>
          </a:prstGeom>
          <a:noFill/>
          <a:ln/>
        </p:spPr>
        <p:txBody>
          <a:bodyPr wrap="square" rtlCol="0" anchor="ctr"/>
          <a:lstStyle/>
          <a:p>
            <a:pPr indent="0" marL="0">
              <a:buNone/>
            </a:pPr>
            <a:endParaRPr lang="en-US" sz="1600" dirty="0"/>
          </a:p>
        </p:txBody>
      </p:sp>
      <p:sp>
        <p:nvSpPr>
          <p:cNvPr id="8" name="Text 6"/>
          <p:cNvSpPr/>
          <p:nvPr/>
        </p:nvSpPr>
        <p:spPr>
          <a:xfrm>
            <a:off x="914400" y="2606040"/>
            <a:ext cx="7315200" cy="45720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Break-even:  €1.684 = €1.035 + zorgkosten</a:t>
            </a:r>
            <a:endParaRPr lang="en-US" sz="1600" dirty="0"/>
          </a:p>
        </p:txBody>
      </p:sp>
      <p:sp>
        <p:nvSpPr>
          <p:cNvPr id="9" name="Text 7"/>
          <p:cNvSpPr/>
          <p:nvPr/>
        </p:nvSpPr>
        <p:spPr>
          <a:xfrm>
            <a:off x="914400" y="3063240"/>
            <a:ext cx="7315200" cy="45720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             zorgkosten = €649</a:t>
            </a:r>
            <a:endParaRPr lang="en-US" sz="1600" dirty="0"/>
          </a:p>
        </p:txBody>
      </p:sp>
      <p:sp>
        <p:nvSpPr>
          <p:cNvPr id="10" name="Text 8"/>
          <p:cNvSpPr/>
          <p:nvPr/>
        </p:nvSpPr>
        <p:spPr>
          <a:xfrm>
            <a:off x="914400" y="3520440"/>
            <a:ext cx="7315200" cy="457200"/>
          </a:xfrm>
          <a:prstGeom prst="rect">
            <a:avLst/>
          </a:prstGeom>
          <a:noFill/>
          <a:ln/>
        </p:spPr>
        <p:txBody>
          <a:bodyPr wrap="square" rtlCol="0" anchor="ctr"/>
          <a:lstStyle/>
          <a:p>
            <a:pPr indent="0" marL="0">
              <a:buNone/>
            </a:pPr>
            <a:endParaRPr lang="en-US" sz="1600" dirty="0"/>
          </a:p>
        </p:txBody>
      </p:sp>
      <p:sp>
        <p:nvSpPr>
          <p:cNvPr id="11" name="Text 9"/>
          <p:cNvSpPr/>
          <p:nvPr/>
        </p:nvSpPr>
        <p:spPr>
          <a:xfrm>
            <a:off x="914400" y="3977640"/>
            <a:ext cx="7315200" cy="457200"/>
          </a:xfrm>
          <a:prstGeom prst="rect">
            <a:avLst/>
          </a:prstGeom>
          <a:noFill/>
          <a:ln/>
        </p:spPr>
        <p:txBody>
          <a:bodyPr wrap="square" rtlCol="0" anchor="ctr"/>
          <a:lstStyle/>
          <a:p>
            <a:pPr indent="0" marL="0">
              <a:buNone/>
            </a:pPr>
            <a:r>
              <a:rPr lang="en-US" sz="1600" dirty="0">
                <a:solidFill>
                  <a:srgbClr val="2D3748"/>
                </a:solidFill>
                <a:latin typeface="Consolas" pitchFamily="34" charset="0"/>
                <a:ea typeface="Consolas" pitchFamily="34" charset="-122"/>
                <a:cs typeface="Consolas" pitchFamily="34" charset="-120"/>
              </a:rPr>
              <a:t>Tot €649 aan zorgkosten → verhoogd eigen risico voordelig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Rekenroute: eigen risico</a:t>
            </a:r>
            <a:endParaRPr lang="en-US" sz="2400" dirty="0"/>
          </a:p>
        </p:txBody>
      </p:sp>
      <p:sp>
        <p:nvSpPr>
          <p:cNvPr id="3" name="Shape 1"/>
          <p:cNvSpPr/>
          <p:nvPr/>
        </p:nvSpPr>
        <p:spPr>
          <a:xfrm>
            <a:off x="1371600" y="1188720"/>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4" name="Text 2"/>
          <p:cNvSpPr/>
          <p:nvPr/>
        </p:nvSpPr>
        <p:spPr>
          <a:xfrm>
            <a:off x="1554480" y="1188720"/>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Stap 1: Bereken jaarpremie voor beide opties</a:t>
            </a:r>
            <a:endParaRPr lang="en-US" sz="1600" dirty="0"/>
          </a:p>
        </p:txBody>
      </p:sp>
      <p:sp>
        <p:nvSpPr>
          <p:cNvPr id="5" name="Shape 3"/>
          <p:cNvSpPr/>
          <p:nvPr/>
        </p:nvSpPr>
        <p:spPr>
          <a:xfrm>
            <a:off x="1371600" y="1801368"/>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6" name="Text 4"/>
          <p:cNvSpPr/>
          <p:nvPr/>
        </p:nvSpPr>
        <p:spPr>
          <a:xfrm>
            <a:off x="1554480" y="1801368"/>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Stap 2: Tel eigen risico op bij de jaarpremie</a:t>
            </a:r>
            <a:endParaRPr lang="en-US" sz="1600" dirty="0"/>
          </a:p>
        </p:txBody>
      </p:sp>
      <p:sp>
        <p:nvSpPr>
          <p:cNvPr id="7" name="Shape 5"/>
          <p:cNvSpPr/>
          <p:nvPr/>
        </p:nvSpPr>
        <p:spPr>
          <a:xfrm>
            <a:off x="1371600" y="2414016"/>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8" name="Text 6"/>
          <p:cNvSpPr/>
          <p:nvPr/>
        </p:nvSpPr>
        <p:spPr>
          <a:xfrm>
            <a:off x="1554480" y="2414016"/>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Stap 3: Stel totale kosten aan elkaar gelijk</a:t>
            </a:r>
            <a:endParaRPr lang="en-US" sz="1600" dirty="0"/>
          </a:p>
        </p:txBody>
      </p:sp>
      <p:sp>
        <p:nvSpPr>
          <p:cNvPr id="9" name="Shape 7"/>
          <p:cNvSpPr/>
          <p:nvPr/>
        </p:nvSpPr>
        <p:spPr>
          <a:xfrm>
            <a:off x="1371600" y="3026664"/>
            <a:ext cx="6400800" cy="502920"/>
          </a:xfrm>
          <a:prstGeom prst="rect">
            <a:avLst/>
          </a:prstGeom>
          <a:solidFill>
            <a:srgbClr val="1A5276"/>
          </a:solidFill>
          <a:ln/>
          <a:effectLst>
            <a:outerShdw sx="100000" sy="100000" kx="0" ky="0" algn="bl" rotWithShape="0" blurRad="76200" dist="25400" dir="8100000">
              <a:srgbClr val="000000">
                <a:alpha val="10000"/>
              </a:srgbClr>
            </a:outerShdw>
          </a:effectLst>
        </p:spPr>
      </p:sp>
      <p:sp>
        <p:nvSpPr>
          <p:cNvPr id="10" name="Text 8"/>
          <p:cNvSpPr/>
          <p:nvPr/>
        </p:nvSpPr>
        <p:spPr>
          <a:xfrm>
            <a:off x="1554480" y="3026664"/>
            <a:ext cx="603504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  Stap 4: Los op naar zorgkosten</a:t>
            </a:r>
            <a:endParaRPr lang="en-US" sz="1600" dirty="0"/>
          </a:p>
        </p:txBody>
      </p:sp>
      <p:sp>
        <p:nvSpPr>
          <p:cNvPr id="11" name="Shape 9"/>
          <p:cNvSpPr/>
          <p:nvPr/>
        </p:nvSpPr>
        <p:spPr>
          <a:xfrm>
            <a:off x="1371600" y="3639312"/>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12" name="Text 10"/>
          <p:cNvSpPr/>
          <p:nvPr/>
        </p:nvSpPr>
        <p:spPr>
          <a:xfrm>
            <a:off x="1554480" y="3639312"/>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Stap 5: Formuleer conclusie met bedrag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Waarom dalen de zorgkosten?</a:t>
            </a:r>
            <a:endParaRPr lang="en-US" sz="2400" dirty="0"/>
          </a:p>
        </p:txBody>
      </p:sp>
      <p:sp>
        <p:nvSpPr>
          <p:cNvPr id="3" name="Shape 1"/>
          <p:cNvSpPr/>
          <p:nvPr/>
        </p:nvSpPr>
        <p:spPr>
          <a:xfrm>
            <a:off x="1371600" y="1188720"/>
            <a:ext cx="6400800" cy="502920"/>
          </a:xfrm>
          <a:prstGeom prst="rect">
            <a:avLst/>
          </a:prstGeom>
          <a:solidFill>
            <a:srgbClr val="1A5276"/>
          </a:solidFill>
          <a:ln/>
          <a:effectLst>
            <a:outerShdw sx="100000" sy="100000" kx="0" ky="0" algn="bl" rotWithShape="0" blurRad="76200" dist="25400" dir="8100000">
              <a:srgbClr val="000000">
                <a:alpha val="10000"/>
              </a:srgbClr>
            </a:outerShdw>
          </a:effectLst>
        </p:spPr>
      </p:sp>
      <p:sp>
        <p:nvSpPr>
          <p:cNvPr id="4" name="Text 2"/>
          <p:cNvSpPr/>
          <p:nvPr/>
        </p:nvSpPr>
        <p:spPr>
          <a:xfrm>
            <a:off x="1554480" y="1188720"/>
            <a:ext cx="603504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Eigen risico vervalt voor huisartsbezoek</a:t>
            </a:r>
            <a:endParaRPr lang="en-US" sz="1600" dirty="0"/>
          </a:p>
        </p:txBody>
      </p:sp>
      <p:sp>
        <p:nvSpPr>
          <p:cNvPr id="5" name="Shape 3"/>
          <p:cNvSpPr/>
          <p:nvPr/>
        </p:nvSpPr>
        <p:spPr>
          <a:xfrm>
            <a:off x="1371600" y="1801368"/>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6" name="Text 4"/>
          <p:cNvSpPr/>
          <p:nvPr/>
        </p:nvSpPr>
        <p:spPr>
          <a:xfrm>
            <a:off x="1554480" y="1801368"/>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Drempel om naar de huisarts te gaan verdwijnt</a:t>
            </a:r>
            <a:endParaRPr lang="en-US" sz="1600" dirty="0"/>
          </a:p>
        </p:txBody>
      </p:sp>
      <p:sp>
        <p:nvSpPr>
          <p:cNvPr id="7" name="Shape 5"/>
          <p:cNvSpPr/>
          <p:nvPr/>
        </p:nvSpPr>
        <p:spPr>
          <a:xfrm>
            <a:off x="1371600" y="2414016"/>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8" name="Text 6"/>
          <p:cNvSpPr/>
          <p:nvPr/>
        </p:nvSpPr>
        <p:spPr>
          <a:xfrm>
            <a:off x="1554480" y="2414016"/>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Mensen gaan eerder naar de huisarts</a:t>
            </a:r>
            <a:endParaRPr lang="en-US" sz="1600" dirty="0"/>
          </a:p>
        </p:txBody>
      </p:sp>
      <p:sp>
        <p:nvSpPr>
          <p:cNvPr id="9" name="Shape 7"/>
          <p:cNvSpPr/>
          <p:nvPr/>
        </p:nvSpPr>
        <p:spPr>
          <a:xfrm>
            <a:off x="1371600" y="3026664"/>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10" name="Text 8"/>
          <p:cNvSpPr/>
          <p:nvPr/>
        </p:nvSpPr>
        <p:spPr>
          <a:xfrm>
            <a:off x="1554480" y="3026664"/>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Ziektes worden eerder ontdekt en behandeld</a:t>
            </a:r>
            <a:endParaRPr lang="en-US" sz="1600" dirty="0"/>
          </a:p>
        </p:txBody>
      </p:sp>
      <p:sp>
        <p:nvSpPr>
          <p:cNvPr id="11" name="Shape 9"/>
          <p:cNvSpPr/>
          <p:nvPr/>
        </p:nvSpPr>
        <p:spPr>
          <a:xfrm>
            <a:off x="1371600" y="3639312"/>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12" name="Text 10"/>
          <p:cNvSpPr/>
          <p:nvPr/>
        </p:nvSpPr>
        <p:spPr>
          <a:xfrm>
            <a:off x="1554480" y="3639312"/>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Minder doorverwijzingen naar dure specialisten</a:t>
            </a:r>
            <a:endParaRPr lang="en-US" sz="1600" dirty="0"/>
          </a:p>
        </p:txBody>
      </p:sp>
      <p:sp>
        <p:nvSpPr>
          <p:cNvPr id="13" name="Shape 11"/>
          <p:cNvSpPr/>
          <p:nvPr/>
        </p:nvSpPr>
        <p:spPr>
          <a:xfrm>
            <a:off x="1371600" y="4251960"/>
            <a:ext cx="6400800" cy="502920"/>
          </a:xfrm>
          <a:prstGeom prst="rect">
            <a:avLst/>
          </a:prstGeom>
          <a:solidFill>
            <a:srgbClr val="1A5276"/>
          </a:solidFill>
          <a:ln/>
          <a:effectLst>
            <a:outerShdw sx="100000" sy="100000" kx="0" ky="0" algn="bl" rotWithShape="0" blurRad="76200" dist="25400" dir="8100000">
              <a:srgbClr val="000000">
                <a:alpha val="10000"/>
              </a:srgbClr>
            </a:outerShdw>
          </a:effectLst>
        </p:spPr>
      </p:sp>
      <p:sp>
        <p:nvSpPr>
          <p:cNvPr id="14" name="Text 12"/>
          <p:cNvSpPr/>
          <p:nvPr/>
        </p:nvSpPr>
        <p:spPr>
          <a:xfrm>
            <a:off x="1554480" y="4251960"/>
            <a:ext cx="603504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  Totale zorgkosten kunnen dalen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Doelmatigheid vergroten</a:t>
            </a:r>
            <a:endParaRPr lang="en-US" sz="2400" dirty="0"/>
          </a:p>
        </p:txBody>
      </p:sp>
      <p:sp>
        <p:nvSpPr>
          <p:cNvPr id="3" name="Shape 1"/>
          <p:cNvSpPr/>
          <p:nvPr/>
        </p:nvSpPr>
        <p:spPr>
          <a:xfrm>
            <a:off x="1371600" y="1188720"/>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4" name="Text 2"/>
          <p:cNvSpPr/>
          <p:nvPr/>
        </p:nvSpPr>
        <p:spPr>
          <a:xfrm>
            <a:off x="1554480" y="1188720"/>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Vergelijkingssites → meer informatie voor consumenten</a:t>
            </a:r>
            <a:endParaRPr lang="en-US" sz="1600" dirty="0"/>
          </a:p>
        </p:txBody>
      </p:sp>
      <p:sp>
        <p:nvSpPr>
          <p:cNvPr id="5" name="Shape 3"/>
          <p:cNvSpPr/>
          <p:nvPr/>
        </p:nvSpPr>
        <p:spPr>
          <a:xfrm>
            <a:off x="1371600" y="1801368"/>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6" name="Text 4"/>
          <p:cNvSpPr/>
          <p:nvPr/>
        </p:nvSpPr>
        <p:spPr>
          <a:xfrm>
            <a:off x="1554480" y="1801368"/>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Meer transparantie → meer concurrentie</a:t>
            </a:r>
            <a:endParaRPr lang="en-US" sz="1600" dirty="0"/>
          </a:p>
        </p:txBody>
      </p:sp>
      <p:sp>
        <p:nvSpPr>
          <p:cNvPr id="7" name="Shape 5"/>
          <p:cNvSpPr/>
          <p:nvPr/>
        </p:nvSpPr>
        <p:spPr>
          <a:xfrm>
            <a:off x="1371600" y="2414016"/>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8" name="Text 6"/>
          <p:cNvSpPr/>
          <p:nvPr/>
        </p:nvSpPr>
        <p:spPr>
          <a:xfrm>
            <a:off x="1554480" y="2414016"/>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Verzekeraars kopen zorg scherper in</a:t>
            </a:r>
            <a:endParaRPr lang="en-US" sz="1600" dirty="0"/>
          </a:p>
        </p:txBody>
      </p:sp>
      <p:sp>
        <p:nvSpPr>
          <p:cNvPr id="9" name="Shape 7"/>
          <p:cNvSpPr/>
          <p:nvPr/>
        </p:nvSpPr>
        <p:spPr>
          <a:xfrm>
            <a:off x="1371600" y="3026664"/>
            <a:ext cx="6400800" cy="50292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10" name="Text 8"/>
          <p:cNvSpPr/>
          <p:nvPr/>
        </p:nvSpPr>
        <p:spPr>
          <a:xfrm>
            <a:off x="1554480" y="3026664"/>
            <a:ext cx="6035040" cy="50292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  Lagere premies voor consumenten</a:t>
            </a:r>
            <a:endParaRPr lang="en-US" sz="1600" dirty="0"/>
          </a:p>
        </p:txBody>
      </p:sp>
      <p:sp>
        <p:nvSpPr>
          <p:cNvPr id="11" name="Shape 9"/>
          <p:cNvSpPr/>
          <p:nvPr/>
        </p:nvSpPr>
        <p:spPr>
          <a:xfrm>
            <a:off x="1371600" y="3639312"/>
            <a:ext cx="6400800" cy="502920"/>
          </a:xfrm>
          <a:prstGeom prst="rect">
            <a:avLst/>
          </a:prstGeom>
          <a:solidFill>
            <a:srgbClr val="1A5276"/>
          </a:solidFill>
          <a:ln/>
          <a:effectLst>
            <a:outerShdw sx="100000" sy="100000" kx="0" ky="0" algn="bl" rotWithShape="0" blurRad="76200" dist="25400" dir="8100000">
              <a:srgbClr val="000000">
                <a:alpha val="10000"/>
              </a:srgbClr>
            </a:outerShdw>
          </a:effectLst>
        </p:spPr>
      </p:sp>
      <p:sp>
        <p:nvSpPr>
          <p:cNvPr id="12" name="Text 10"/>
          <p:cNvSpPr/>
          <p:nvPr/>
        </p:nvSpPr>
        <p:spPr>
          <a:xfrm>
            <a:off x="1554480" y="3639312"/>
            <a:ext cx="603504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  Consumentensurplus stijgt → doelmatigheid neemt toe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Principaal-agentprobleem</a:t>
            </a:r>
            <a:endParaRPr lang="en-US" sz="2400" dirty="0"/>
          </a:p>
        </p:txBody>
      </p:sp>
      <p:sp>
        <p:nvSpPr>
          <p:cNvPr id="3" name="Shape 1"/>
          <p:cNvSpPr/>
          <p:nvPr/>
        </p:nvSpPr>
        <p:spPr>
          <a:xfrm>
            <a:off x="457200" y="1005840"/>
            <a:ext cx="3931920" cy="310896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108960"/>
          </a:xfrm>
          <a:prstGeom prst="rect">
            <a:avLst/>
          </a:prstGeom>
          <a:solidFill>
            <a:srgbClr val="1A5276"/>
          </a:solidFill>
          <a:ln/>
        </p:spPr>
      </p:sp>
      <p:sp>
        <p:nvSpPr>
          <p:cNvPr id="5" name="Text 3"/>
          <p:cNvSpPr/>
          <p:nvPr/>
        </p:nvSpPr>
        <p:spPr>
          <a:xfrm>
            <a:off x="685800" y="1143000"/>
            <a:ext cx="3566160" cy="411480"/>
          </a:xfrm>
          <a:prstGeom prst="rect">
            <a:avLst/>
          </a:prstGeom>
          <a:noFill/>
          <a:ln/>
        </p:spPr>
        <p:txBody>
          <a:bodyPr wrap="square" rtlCol="0" anchor="ctr"/>
          <a:lstStyle/>
          <a:p>
            <a:pPr indent="0" marL="0">
              <a:buNone/>
            </a:pPr>
            <a:r>
              <a:rPr lang="en-US" sz="2000" b="1" dirty="0">
                <a:solidFill>
                  <a:srgbClr val="1A5276"/>
                </a:solidFill>
                <a:latin typeface="Arial" pitchFamily="34" charset="0"/>
                <a:ea typeface="Arial" pitchFamily="34" charset="-122"/>
                <a:cs typeface="Arial" pitchFamily="34" charset="-120"/>
              </a:rPr>
              <a:t>Twee voorwaarden</a:t>
            </a:r>
            <a:endParaRPr lang="en-US" sz="2000" dirty="0"/>
          </a:p>
        </p:txBody>
      </p:sp>
      <p:sp>
        <p:nvSpPr>
          <p:cNvPr id="6" name="Text 4"/>
          <p:cNvSpPr/>
          <p:nvPr/>
        </p:nvSpPr>
        <p:spPr>
          <a:xfrm>
            <a:off x="685800" y="1600200"/>
            <a:ext cx="3566160" cy="2377440"/>
          </a:xfrm>
          <a:prstGeom prst="rect">
            <a:avLst/>
          </a:prstGeom>
          <a:noFill/>
          <a:ln/>
        </p:spPr>
        <p:txBody>
          <a:bodyPr wrap="square" rtlCol="0" anchor="ctr"/>
          <a:lstStyle/>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Tegengestelde belangen: principaal wil X, agent wil Y</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Asymmetrische informatie: principaal kan agent niet controleren</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Beide moeten aanwezig zijn!</a:t>
            </a:r>
            <a:endParaRPr lang="en-US" sz="1400" dirty="0"/>
          </a:p>
        </p:txBody>
      </p:sp>
      <p:sp>
        <p:nvSpPr>
          <p:cNvPr id="7" name="Shape 5"/>
          <p:cNvSpPr/>
          <p:nvPr/>
        </p:nvSpPr>
        <p:spPr>
          <a:xfrm>
            <a:off x="4754880" y="1005840"/>
            <a:ext cx="3931920" cy="3108960"/>
          </a:xfrm>
          <a:prstGeom prst="rect">
            <a:avLst/>
          </a:prstGeom>
          <a:solidFill>
            <a:srgbClr val="F9F6F1"/>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108960"/>
          </a:xfrm>
          <a:prstGeom prst="rect">
            <a:avLst/>
          </a:prstGeom>
          <a:solidFill>
            <a:srgbClr val="E67E22"/>
          </a:solidFill>
          <a:ln/>
        </p:spPr>
      </p:sp>
      <p:sp>
        <p:nvSpPr>
          <p:cNvPr id="9" name="Text 7"/>
          <p:cNvSpPr/>
          <p:nvPr/>
        </p:nvSpPr>
        <p:spPr>
          <a:xfrm>
            <a:off x="4983480" y="1143000"/>
            <a:ext cx="3566160" cy="411480"/>
          </a:xfrm>
          <a:prstGeom prst="rect">
            <a:avLst/>
          </a:prstGeom>
          <a:noFill/>
          <a:ln/>
        </p:spPr>
        <p:txBody>
          <a:bodyPr wrap="square" rtlCol="0" anchor="ctr"/>
          <a:lstStyle/>
          <a:p>
            <a:pPr indent="0" marL="0">
              <a:buNone/>
            </a:pPr>
            <a:r>
              <a:rPr lang="en-US" sz="2000" b="1" dirty="0">
                <a:solidFill>
                  <a:srgbClr val="E67E22"/>
                </a:solidFill>
                <a:latin typeface="Arial" pitchFamily="34" charset="0"/>
                <a:ea typeface="Arial" pitchFamily="34" charset="-122"/>
                <a:cs typeface="Arial" pitchFamily="34" charset="-120"/>
              </a:rPr>
              <a:t>Vergelijkingssite</a:t>
            </a:r>
            <a:endParaRPr lang="en-US" sz="2000" dirty="0"/>
          </a:p>
        </p:txBody>
      </p:sp>
      <p:sp>
        <p:nvSpPr>
          <p:cNvPr id="10" name="Text 8"/>
          <p:cNvSpPr/>
          <p:nvPr/>
        </p:nvSpPr>
        <p:spPr>
          <a:xfrm>
            <a:off x="4983480" y="1600200"/>
            <a:ext cx="3566160" cy="2377440"/>
          </a:xfrm>
          <a:prstGeom prst="rect">
            <a:avLst/>
          </a:prstGeom>
          <a:noFill/>
          <a:ln/>
        </p:spPr>
        <p:txBody>
          <a:bodyPr wrap="square" rtlCol="0" anchor="ctr"/>
          <a:lstStyle/>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Principaal = consument (wil goedkoopste verzekering)</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Agent = vergelijkingssite (wil hoogste vergoeding)</a:t>
            </a:r>
            <a:endParaRPr lang="en-US" sz="1400" dirty="0"/>
          </a:p>
          <a:p>
            <a:pPr marL="342900" indent="-342900">
              <a:spcAft>
                <a:spcPts val="600"/>
              </a:spcAft>
              <a:buSzPct val="100000"/>
              <a:buChar char="•"/>
            </a:pPr>
            <a:r>
              <a:rPr lang="en-US" sz="1400" dirty="0">
                <a:solidFill>
                  <a:srgbClr val="2D3748"/>
                </a:solidFill>
                <a:latin typeface="Arial" pitchFamily="34" charset="0"/>
                <a:ea typeface="Arial" pitchFamily="34" charset="-122"/>
                <a:cs typeface="Arial" pitchFamily="34" charset="-120"/>
              </a:rPr>
              <a:t>Consument weet niet of site in zijn belang adviseert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Veelgemaakte fouten</a:t>
            </a:r>
            <a:endParaRPr lang="en-US" sz="2400" dirty="0"/>
          </a:p>
        </p:txBody>
      </p:sp>
      <p:sp>
        <p:nvSpPr>
          <p:cNvPr id="3" name="Shape 1"/>
          <p:cNvSpPr/>
          <p:nvPr/>
        </p:nvSpPr>
        <p:spPr>
          <a:xfrm>
            <a:off x="640080" y="1005840"/>
            <a:ext cx="7863840" cy="914400"/>
          </a:xfrm>
          <a:prstGeom prst="rect">
            <a:avLst/>
          </a:prstGeom>
          <a:solidFill>
            <a:srgbClr val="FDE8E8"/>
          </a:solidFill>
          <a:ln/>
        </p:spPr>
      </p:sp>
      <p:sp>
        <p:nvSpPr>
          <p:cNvPr id="4" name="Shape 2"/>
          <p:cNvSpPr/>
          <p:nvPr/>
        </p:nvSpPr>
        <p:spPr>
          <a:xfrm>
            <a:off x="640080" y="1005840"/>
            <a:ext cx="54864" cy="914400"/>
          </a:xfrm>
          <a:prstGeom prst="rect">
            <a:avLst/>
          </a:prstGeom>
          <a:solidFill>
            <a:srgbClr val="D9534F"/>
          </a:solidFill>
          <a:ln/>
        </p:spPr>
      </p:sp>
      <p:sp>
        <p:nvSpPr>
          <p:cNvPr id="5" name="Text 3"/>
          <p:cNvSpPr/>
          <p:nvPr/>
        </p:nvSpPr>
        <p:spPr>
          <a:xfrm>
            <a:off x="868680" y="1078992"/>
            <a:ext cx="7406640" cy="320040"/>
          </a:xfrm>
          <a:prstGeom prst="rect">
            <a:avLst/>
          </a:prstGeom>
          <a:noFill/>
          <a:ln/>
        </p:spPr>
        <p:txBody>
          <a:bodyPr wrap="square" rtlCol="0" anchor="ctr"/>
          <a:lstStyle/>
          <a:p>
            <a:pPr indent="0" marL="0">
              <a:buNone/>
            </a:pPr>
            <a:r>
              <a:rPr lang="en-US" sz="1600" b="1" dirty="0">
                <a:solidFill>
                  <a:srgbClr val="D9534F"/>
                </a:solidFill>
                <a:latin typeface="Arial" pitchFamily="34" charset="0"/>
                <a:ea typeface="Arial" pitchFamily="34" charset="-122"/>
                <a:cs typeface="Arial" pitchFamily="34" charset="-120"/>
              </a:rPr>
              <a:t>Maar één criterium noemen bij collectief goed</a:t>
            </a:r>
            <a:endParaRPr lang="en-US" sz="1600" dirty="0"/>
          </a:p>
        </p:txBody>
      </p:sp>
      <p:sp>
        <p:nvSpPr>
          <p:cNvPr id="6" name="Text 4"/>
          <p:cNvSpPr/>
          <p:nvPr/>
        </p:nvSpPr>
        <p:spPr>
          <a:xfrm>
            <a:off x="868680" y="1389888"/>
            <a:ext cx="740664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Je moet altijd BEIDE criteria checken: rivaliteit én uitsluitbaarheid. Eén criterium is niet genoeg.</a:t>
            </a:r>
            <a:endParaRPr lang="en-US" sz="1300" dirty="0"/>
          </a:p>
        </p:txBody>
      </p:sp>
      <p:sp>
        <p:nvSpPr>
          <p:cNvPr id="7" name="Shape 5"/>
          <p:cNvSpPr/>
          <p:nvPr/>
        </p:nvSpPr>
        <p:spPr>
          <a:xfrm>
            <a:off x="640080" y="2057400"/>
            <a:ext cx="7863840" cy="914400"/>
          </a:xfrm>
          <a:prstGeom prst="rect">
            <a:avLst/>
          </a:prstGeom>
          <a:solidFill>
            <a:srgbClr val="FDE8E8"/>
          </a:solidFill>
          <a:ln/>
        </p:spPr>
      </p:sp>
      <p:sp>
        <p:nvSpPr>
          <p:cNvPr id="8" name="Shape 6"/>
          <p:cNvSpPr/>
          <p:nvPr/>
        </p:nvSpPr>
        <p:spPr>
          <a:xfrm>
            <a:off x="640080" y="2057400"/>
            <a:ext cx="54864" cy="914400"/>
          </a:xfrm>
          <a:prstGeom prst="rect">
            <a:avLst/>
          </a:prstGeom>
          <a:solidFill>
            <a:srgbClr val="D9534F"/>
          </a:solidFill>
          <a:ln/>
        </p:spPr>
      </p:sp>
      <p:sp>
        <p:nvSpPr>
          <p:cNvPr id="9" name="Text 7"/>
          <p:cNvSpPr/>
          <p:nvPr/>
        </p:nvSpPr>
        <p:spPr>
          <a:xfrm>
            <a:off x="868680" y="2130552"/>
            <a:ext cx="7406640" cy="320040"/>
          </a:xfrm>
          <a:prstGeom prst="rect">
            <a:avLst/>
          </a:prstGeom>
          <a:noFill/>
          <a:ln/>
        </p:spPr>
        <p:txBody>
          <a:bodyPr wrap="square" rtlCol="0" anchor="ctr"/>
          <a:lstStyle/>
          <a:p>
            <a:pPr indent="0" marL="0">
              <a:buNone/>
            </a:pPr>
            <a:r>
              <a:rPr lang="en-US" sz="1600" b="1" dirty="0">
                <a:solidFill>
                  <a:srgbClr val="D9534F"/>
                </a:solidFill>
                <a:latin typeface="Arial" pitchFamily="34" charset="0"/>
                <a:ea typeface="Arial" pitchFamily="34" charset="-122"/>
                <a:cs typeface="Arial" pitchFamily="34" charset="-120"/>
              </a:rPr>
              <a:t>Averechtse selectie verwarren met moreel wangedrag</a:t>
            </a:r>
            <a:endParaRPr lang="en-US" sz="1600" dirty="0"/>
          </a:p>
        </p:txBody>
      </p:sp>
      <p:sp>
        <p:nvSpPr>
          <p:cNvPr id="10" name="Text 8"/>
          <p:cNvSpPr/>
          <p:nvPr/>
        </p:nvSpPr>
        <p:spPr>
          <a:xfrm>
            <a:off x="868680" y="2441448"/>
            <a:ext cx="740664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Averechtse selectie = vóór het contract (verborgen informatie). Moreel wangedrag = na het contract (verborgen gedrag).</a:t>
            </a:r>
            <a:endParaRPr lang="en-US" sz="1300" dirty="0"/>
          </a:p>
        </p:txBody>
      </p:sp>
      <p:sp>
        <p:nvSpPr>
          <p:cNvPr id="11" name="Shape 9"/>
          <p:cNvSpPr/>
          <p:nvPr/>
        </p:nvSpPr>
        <p:spPr>
          <a:xfrm>
            <a:off x="640080" y="3108960"/>
            <a:ext cx="7863840" cy="914400"/>
          </a:xfrm>
          <a:prstGeom prst="rect">
            <a:avLst/>
          </a:prstGeom>
          <a:solidFill>
            <a:srgbClr val="FDE8E8"/>
          </a:solidFill>
          <a:ln/>
        </p:spPr>
      </p:sp>
      <p:sp>
        <p:nvSpPr>
          <p:cNvPr id="12" name="Shape 10"/>
          <p:cNvSpPr/>
          <p:nvPr/>
        </p:nvSpPr>
        <p:spPr>
          <a:xfrm>
            <a:off x="640080" y="3108960"/>
            <a:ext cx="54864" cy="914400"/>
          </a:xfrm>
          <a:prstGeom prst="rect">
            <a:avLst/>
          </a:prstGeom>
          <a:solidFill>
            <a:srgbClr val="D9534F"/>
          </a:solidFill>
          <a:ln/>
        </p:spPr>
      </p:sp>
      <p:sp>
        <p:nvSpPr>
          <p:cNvPr id="13" name="Text 11"/>
          <p:cNvSpPr/>
          <p:nvPr/>
        </p:nvSpPr>
        <p:spPr>
          <a:xfrm>
            <a:off x="868680" y="3182112"/>
            <a:ext cx="7406640" cy="320040"/>
          </a:xfrm>
          <a:prstGeom prst="rect">
            <a:avLst/>
          </a:prstGeom>
          <a:noFill/>
          <a:ln/>
        </p:spPr>
        <p:txBody>
          <a:bodyPr wrap="square" rtlCol="0" anchor="ctr"/>
          <a:lstStyle/>
          <a:p>
            <a:pPr indent="0" marL="0">
              <a:buNone/>
            </a:pPr>
            <a:r>
              <a:rPr lang="en-US" sz="1600" b="1" dirty="0">
                <a:solidFill>
                  <a:srgbClr val="D9534F"/>
                </a:solidFill>
                <a:latin typeface="Arial" pitchFamily="34" charset="0"/>
                <a:ea typeface="Arial" pitchFamily="34" charset="-122"/>
                <a:cs typeface="Arial" pitchFamily="34" charset="-120"/>
              </a:rPr>
              <a:t>Alleen conclusie geven, geen redenering</a:t>
            </a:r>
            <a:endParaRPr lang="en-US" sz="1600" dirty="0"/>
          </a:p>
        </p:txBody>
      </p:sp>
      <p:sp>
        <p:nvSpPr>
          <p:cNvPr id="14" name="Text 12"/>
          <p:cNvSpPr/>
          <p:nvPr/>
        </p:nvSpPr>
        <p:spPr>
          <a:xfrm>
            <a:off x="868680" y="3493008"/>
            <a:ext cx="740664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Bij ‘Leg uit’-vragen moet je de hele causale keten opschrijven. Alleen een conclusie levert 0 punten op.</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Text 1"/>
          <p:cNvSpPr/>
          <p:nvPr/>
        </p:nvSpPr>
        <p:spPr>
          <a:xfrm>
            <a:off x="640080" y="274320"/>
            <a:ext cx="786384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Samenvatting</a:t>
            </a:r>
            <a:endParaRPr lang="en-US" sz="2800" dirty="0"/>
          </a:p>
        </p:txBody>
      </p:sp>
      <p:sp>
        <p:nvSpPr>
          <p:cNvPr id="4" name="Text 2"/>
          <p:cNvSpPr/>
          <p:nvPr/>
        </p:nvSpPr>
        <p:spPr>
          <a:xfrm>
            <a:off x="640080" y="777240"/>
            <a:ext cx="7863840" cy="36576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Beheers je dit voordat je gaat oefenen?</a:t>
            </a:r>
            <a:endParaRPr lang="en-US" sz="1400" dirty="0"/>
          </a:p>
        </p:txBody>
      </p:sp>
      <p:sp>
        <p:nvSpPr>
          <p:cNvPr id="5" name="Text 3"/>
          <p:cNvSpPr/>
          <p:nvPr/>
        </p:nvSpPr>
        <p:spPr>
          <a:xfrm>
            <a:off x="640080" y="1371600"/>
            <a:ext cx="7863840" cy="3200400"/>
          </a:xfrm>
          <a:prstGeom prst="rect">
            <a:avLst/>
          </a:prstGeom>
          <a:noFill/>
          <a:ln/>
        </p:spPr>
        <p:txBody>
          <a:bodyPr wrap="square" rtlCol="0" anchor="ctr"/>
          <a:lstStyle/>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Collectief goed = niet-rivaliserend EN niet-uitsluitbaar (beide nodig!)</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Averechtse selectie wordt voorkomen door verplichte verzekering</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Eigen risico vergelijken: jaarpremie + zorgkosten gelijkstellen</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Preventie-effect: lagere drempel → vroege behandeling → lagere kosten</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Doelmatigheid = meer surplus door betere informatie en concurrentie</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Principaal-agent: tegengestelde belangen + informatieasymmetrie</a:t>
            </a:r>
            <a:endParaRPr lang="en-US" sz="1500" dirty="0"/>
          </a:p>
        </p:txBody>
      </p:sp>
      <p:sp>
        <p:nvSpPr>
          <p:cNvPr id="6" name="Shape 4"/>
          <p:cNvSpPr/>
          <p:nvPr/>
        </p:nvSpPr>
        <p:spPr>
          <a:xfrm>
            <a:off x="0" y="4709160"/>
            <a:ext cx="9144000" cy="434340"/>
          </a:xfrm>
          <a:prstGeom prst="rect">
            <a:avLst/>
          </a:prstGeom>
          <a:solidFill>
            <a:srgbClr val="151D4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Opgave 1 Zorgverzekering</dc:title>
  <dc:subject>PptxGenJS Presentation</dc:subject>
  <dc:creator>Economie VWO</dc:creator>
  <cp:lastModifiedBy>Economie VWO</cp:lastModifiedBy>
  <cp:revision>1</cp:revision>
  <dcterms:created xsi:type="dcterms:W3CDTF">2026-03-26T12:51:39Z</dcterms:created>
  <dcterms:modified xsi:type="dcterms:W3CDTF">2026-03-26T12:51:39Z</dcterms:modified>
</cp:coreProperties>
</file>